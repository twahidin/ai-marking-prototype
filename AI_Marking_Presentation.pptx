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2D2D2D"/>
                </a:solidFill>
                <a:latin typeface="Calibri"/>
              </a:defRPr>
            </a:pPr>
            <a:r>
              <a:t>AI-Assisted 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666666"/>
                </a:solidFill>
                <a:latin typeface="Calibri"/>
              </a:defRPr>
            </a:pPr>
            <a:r>
              <a:t>How AI Can Support Teachers in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18288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CTSS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The Challenge Teachers 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108960" cy="41148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  <a:latin typeface="Calibri"/>
              </a:defRPr>
            </a:pPr>
            <a:r>
              <a:t>Time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2560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Large class sizes mean hours</a:t>
            </a:r>
            <a:br/>
            <a:r>
              <a:t>spent marking scripts</a:t>
            </a:r>
            <a:br/>
            <a:br/>
            <a:r>
              <a:t>Formal assessments across</a:t>
            </a:r>
            <a:br/>
            <a:r>
              <a:t>multiple classes multiply</a:t>
            </a:r>
            <a:br/>
            <a:r>
              <a:t>the workload significantly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108960" cy="41148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  <a:latin typeface="Calibri"/>
              </a:defRPr>
            </a:pPr>
            <a:r>
              <a:t>Consistency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60320"/>
            <a:ext cx="2560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Fatigue affects marking quality</a:t>
            </a:r>
            <a:br/>
            <a:r>
              <a:t>— script #80 vs script #1</a:t>
            </a:r>
            <a:br/>
            <a:br/>
            <a:r>
              <a:t>Different teachers may apply</a:t>
            </a:r>
            <a:br/>
            <a:r>
              <a:t>rubrics differently across</a:t>
            </a:r>
            <a:br/>
            <a:r>
              <a:t>the same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645920"/>
            <a:ext cx="3108960" cy="41148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  <a:latin typeface="Calibri"/>
              </a:defRPr>
            </a:pPr>
            <a:r>
              <a:t>Feedback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60320"/>
            <a:ext cx="2560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Time constraints often mean</a:t>
            </a:r>
            <a:br/>
            <a:r>
              <a:t>generic feedback rather than</a:t>
            </a:r>
            <a:br/>
            <a:r>
              <a:t>specific, actionable advice</a:t>
            </a:r>
            <a:br/>
            <a:br/>
            <a:r>
              <a:t>Students deserve detailed</a:t>
            </a:r>
            <a:br/>
            <a:r>
              <a:t>guidance on how to improve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How AI Marking Supports Teachers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627632"/>
            <a:ext cx="164592" cy="164592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08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Objective &amp; Consistent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AI applies the same marking criteria to every script — no fatigue, no bias from reading order. The 80th script gets the same attention as the 1st.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816352"/>
            <a:ext cx="164592" cy="164592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97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Knowledgeable Across Subjects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Modern AI models have deep knowledge across subjects — Mathematics, Sciences, English, Humanities — and can identify misconceptions, apply rubrics, and reference correct answers accurately.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005072"/>
            <a:ext cx="164592" cy="164592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886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Detailed, Personalised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251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AI generates specific feedback for each question: what was done well, what needs improvement, and concrete recommended actions — the kind of feedback we wish we had time to write for every student.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5193792"/>
            <a:ext cx="164592" cy="164592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074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Teacher Remains in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4406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AI provides a first cut. Teachers review, adjust, and approve before results reach students. Professional judgement is always the final word.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The Time Equation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4572000" cy="4114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C3545"/>
                </a:solidFill>
                <a:latin typeface="Calibri"/>
              </a:defRPr>
            </a:pPr>
            <a:r>
              <a:t>Manual 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5-10 min per script (short answers)</a:t>
            </a:r>
            <a:br/>
            <a:r>
              <a:t>120 scripts = 10-20 hours</a:t>
            </a:r>
            <a:br/>
            <a:r>
              <a:t>Across 2-3 classes at same level:</a:t>
            </a:r>
            <a:br/>
            <a:r>
              <a:t>potentially 30-60 hours per assessment</a:t>
            </a:r>
            <a:br/>
            <a:br/>
            <a:r>
              <a:t>Feedback often reduced to ticks,</a:t>
            </a:r>
            <a:br/>
            <a:r>
              <a:t>crosses and a final mark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45920"/>
            <a:ext cx="4572000" cy="4114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8A745"/>
                </a:solidFill>
                <a:latin typeface="Calibri"/>
              </a:defRPr>
            </a:pPr>
            <a:r>
              <a:t>AI-Assisted Marking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46888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30-60 sec per script (AI processing)</a:t>
            </a:r>
            <a:br/>
            <a:r>
              <a:t>120 scripts = under 2 hours of AI time</a:t>
            </a:r>
            <a:br/>
            <a:r>
              <a:t>Teacher review: 1-2 min per script</a:t>
            </a:r>
            <a:br/>
            <a:r>
              <a:t>Total: ~4-6 hours including review</a:t>
            </a:r>
            <a:br/>
            <a:br/>
            <a:r>
              <a:t>Every student receives detailed</a:t>
            </a:r>
            <a:br/>
            <a:r>
              <a:t>feedback with specific improvements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2004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67EEA"/>
                </a:solidFill>
                <a:latin typeface="Calibri"/>
              </a:defRPr>
            </a:pPr>
            <a:r>
              <a:t>60-80%</a:t>
            </a:r>
            <a:br/>
            <a:r>
              <a:t>time saved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D2D2D"/>
                </a:solidFill>
                <a:latin typeface="Calibri"/>
              </a:defRPr>
            </a:pPr>
            <a:r>
              <a:t>Why AI as First Cut for Level-Wide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For formal assessments, consistency across classes is critical. AI marking as a first cut addresses this.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457200" cy="457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965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D2D2D"/>
                </a:solidFill>
                <a:latin typeface="Calibri"/>
              </a:defRPr>
            </a:pPr>
            <a:r>
              <a:t>Same Standard, Every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0428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When multiple teachers mark the same paper across a level, variation is inevitable. AI applies identical criteria to all scripts — creating a consistent baseline before teacher moderation.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108960"/>
            <a:ext cx="457200" cy="457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D2D2D"/>
                </a:solidFill>
                <a:latin typeface="Calibri"/>
              </a:defRPr>
            </a:pPr>
            <a:r>
              <a:t>Faster Moderation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0156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Instead of moderating from scratch, teachers review AI-marked scripts and adjust where needed. The conversation shifts from 'how do we mark this?' to 'do we agree with this mark?'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06240"/>
            <a:ext cx="457200" cy="457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160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D2D2D"/>
                </a:solidFill>
                <a:latin typeface="Calibri"/>
              </a:defRPr>
            </a:pPr>
            <a:r>
              <a:t>Fairer for 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49884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Students in different classes receive comparable assessment. No class is disadvantaged by stricter or more lenient marking.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303520"/>
            <a:ext cx="457200" cy="457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257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D2D2D"/>
                </a:solidFill>
                <a:latin typeface="Calibri"/>
              </a:defRPr>
            </a:pPr>
            <a:r>
              <a:t>Data for Department Discussions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5961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AI-generated results across the level give departments immediate visibility into question-level performance — which topics need reteaching, which questions were poorly understood.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AI Accuracy: Better Than You Might Think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With the right setup, AI marking is highly accurate: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Answer key as reference — AI compares student answers directly against the correct answers, not from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Rubrics for subjective answers — AI follows the same criteria a teacher would, but applies them uniformly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No fatigue or rushing — every script gets full attention regardless of batch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348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Vision capabilities — modern models can read handwriting, diagrams, and mathematical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7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12079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Prompt engineering — carefully crafted instructions tell the AI exactly how to evaluate, what to accept as partial credit, and how strict to 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45920"/>
            <a:ext cx="4846320" cy="4114800"/>
          </a:xfrm>
          <a:prstGeom prst="rect">
            <a:avLst/>
          </a:prstGeom>
          <a:solidFill>
            <a:srgbClr val="F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828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  <a:latin typeface="Calibri"/>
              </a:defRPr>
            </a:pPr>
            <a:r>
              <a:t>The Key 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A human marker works from memory and experience. An AI marker works from the actual answer key every single time.</a:t>
            </a:r>
            <a:br/>
            <a:br/>
            <a:r>
              <a:t>For objective and short-answer questions, AI with a clear answer key can match or exceed human accuracy — especially when marking at scale where human consistency naturally drops.</a:t>
            </a:r>
            <a:br/>
            <a:br/>
            <a:r>
              <a:t>The goal isn't to replace teachers. It's to give teachers a reliable first draft that saves time while maintaining (or improving) quality.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Multiple AI Models to Choose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Our prototype lets you compare marking quality across three leading AI providers: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11680"/>
            <a:ext cx="3108960" cy="384048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3108960" cy="91440"/>
          </a:xfrm>
          <a:prstGeom prst="rect">
            <a:avLst/>
          </a:prstGeom>
          <a:solidFill>
            <a:srgbClr val="D47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7B3A"/>
                </a:solidFill>
                <a:latin typeface="Calibri"/>
              </a:defRPr>
            </a:pPr>
            <a: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Claude Sonnet 4.6 / Haiku 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Strong reasoning, excellent at following rubrics and structured feedback. Handles handwriting well.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108960" cy="384048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3108960" cy="914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8A745"/>
                </a:solidFill>
                <a:latin typeface="Calibri"/>
              </a:defRPr>
            </a:pPr>
            <a:r>
              <a:t>OpenAI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GPT-5.4 / GPT-5.4 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Powerful vision capabilities, good at mathematics and science marking. Fast processing.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2011680"/>
            <a:ext cx="3108960" cy="384048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63840" y="2011680"/>
            <a:ext cx="3108960" cy="9144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64BA2"/>
                </a:solidFill>
                <a:latin typeface="Calibri"/>
              </a:defRPr>
            </a:pPr>
            <a:r>
              <a:t>Alibaba Qwen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Qwen 3.6 Plus / 3.5 Plus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3832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Cost-effective with strong multilingual support. Excellent vision for handwritten scripts.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D2D2D"/>
                </a:solidFill>
                <a:latin typeface="Calibri"/>
              </a:defRPr>
            </a:pPr>
            <a:r>
              <a:t>Try It Yourself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3200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46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7EEA"/>
                </a:solidFill>
                <a:latin typeface="Calibri"/>
              </a:defRPr>
            </a:pPr>
            <a:r>
              <a:t>ai-marking-prototype-production.up.railway.app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5303520"/>
            <a:ext cx="3200400" cy="640080"/>
          </a:xfrm>
          <a:prstGeom prst="rect">
            <a:avLst/>
          </a:prstGeom>
          <a:solidFill>
            <a:srgbClr val="F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349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7EEA"/>
                </a:solidFill>
                <a:latin typeface="Calibri"/>
              </a:defRPr>
            </a:pPr>
            <a:r>
              <a:t>Access Code:  MKED1HLA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D2D"/>
                </a:solidFill>
                <a:latin typeface="Calibri"/>
              </a:defRPr>
            </a:pPr>
            <a:r>
              <a:t>How to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945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2194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Scan the QR code or visit the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5420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5420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Enter the access code: MKED1HLA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88950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88950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Choose an AI provider and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23697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23697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Upload three files: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3584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  •  Question Paper (PDF or image)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9319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  •  Answer Key (PDF or image)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42793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  •  Student Script (PDF or image)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62686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62686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Optionally upload rubrics for essay-type questions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9743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497433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Add any special marking or review instructions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3218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5321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Click 'Mark Script' and wait ~30-60 seconds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5669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566927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Review the results and download the PDF report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5760720"/>
            <a:ext cx="5943600" cy="6400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0" y="5806440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8A745"/>
                </a:solidFill>
                <a:latin typeface="Calibri"/>
              </a:defRPr>
            </a:pPr>
            <a:r>
              <a:t>Tip: Try the same script with different AI providers to compare marking quality!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